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385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13A"/>
          </a:solidFill>
          <a:ln w="12700">
            <a:solidFill>
              <a:srgbClr val="092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Data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 (CDE)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797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FDBFE"/>
                </a:solidFill>
              </a:rPr>
              <a:t>Solution Architecture Presentation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CBD5E1"/>
                </a:solidFill>
              </a:rPr>
              <a:t>Ingestion • Real‑time Alerts • Lakehouse • Serving APIs • AI Assistant • Cognitive &amp; Predictive  • Observability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29400" y="3310128"/>
            <a:ext cx="1216152" cy="0"/>
          </a:xfrm>
          <a:prstGeom prst="line">
            <a:avLst/>
          </a:prstGeom>
          <a:noFill/>
          <a:ln w="22860">
            <a:solidFill>
              <a:srgbClr val="60A5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0" y="3310128"/>
            <a:ext cx="1143000" cy="0"/>
          </a:xfrm>
          <a:prstGeom prst="line">
            <a:avLst/>
          </a:prstGeom>
          <a:noFill/>
          <a:ln w="22860">
            <a:solidFill>
              <a:srgbClr val="60A5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018520" y="3310128"/>
            <a:ext cx="457200" cy="0"/>
          </a:xfrm>
          <a:prstGeom prst="line">
            <a:avLst/>
          </a:prstGeom>
          <a:noFill/>
          <a:ln w="22860">
            <a:solidFill>
              <a:srgbClr val="60A5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52160" y="2907792"/>
            <a:ext cx="841248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09560" y="2743200"/>
            <a:ext cx="987552" cy="1078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104120" y="2743200"/>
            <a:ext cx="987552" cy="1078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11475720" y="2907792"/>
            <a:ext cx="594360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01</a:t>
            </a:r>
            <a:endParaRPr lang="en-US" sz="8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DC5639-A755-9AA5-9B89-7B4164E21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32" y="3323484"/>
            <a:ext cx="1855369" cy="2091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CDE?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A managed data backbone that collects, classifies, stores, serves, and monitors data across operational and analytical use cases.</a:t>
            </a:r>
            <a:endParaRPr lang="en-US" sz="127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228600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ingress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 webhooks and pulls vendor APIs through controlled entry paths.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49808" y="3246120"/>
            <a:ext cx="19202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1554480"/>
            <a:ext cx="2286000" cy="50292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action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20440" y="2240280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Splits urgent events into a fast broker lane for alerts and action.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3538728" y="3246120"/>
            <a:ext cx="192024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63640" y="1554480"/>
            <a:ext cx="22860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lakehouse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240280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raw payloads and transforms them into curated and publish zones.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6327648" y="3246120"/>
            <a:ext cx="192024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52560" y="1554480"/>
            <a:ext cx="2286000" cy="5029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consumption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98280" y="2240280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Serves data to dashboards, virtual assistants, partners, and applications.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9116568" y="3246120"/>
            <a:ext cx="19202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CDE in one sentence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31520" y="461772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CDE turns many sources of data into governed, queryable, operationally useful information — with clear paths for urgent alerts, analytics, AI queries, monitoring, and audit.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storyline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Use this deck to introduce the CDE concept first, then walk through modules, functions, flow, and technology stack.</a:t>
            </a:r>
            <a:endParaRPr lang="en-US" sz="1270" dirty="0"/>
          </a:p>
        </p:txBody>
      </p:sp>
      <p:sp>
        <p:nvSpPr>
          <p:cNvPr id="4" name="Text 2"/>
          <p:cNvSpPr/>
          <p:nvPr/>
        </p:nvSpPr>
        <p:spPr>
          <a:xfrm>
            <a:off x="777240" y="1298448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325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29000" y="1344168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CDE solves and where it fits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11480" cy="411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21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29000" y="2240280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Ingress, ingestion, lakehouse, serving, AI, monitoring, logging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77240" y="3090672"/>
            <a:ext cx="411480" cy="4114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29000" y="3136392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Receive-based, pull-based, fast-path, raw-to-gold, serving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777240" y="3986784"/>
            <a:ext cx="411480" cy="41148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0142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29000" y="4032504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Kong, n8n/Python, Redis, MinIO, DuckDB/Polars, FastAPI, Grafana, ELK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77240" y="4882896"/>
            <a:ext cx="411480" cy="41148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910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29000" y="4928616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and operational considerations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CDE core modules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Each module has a clear responsibility; together they form a controlled path from data intake to business consumption.</a:t>
            </a:r>
            <a:endParaRPr lang="en-US" sz="127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3310128" cy="96012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3310128" cy="34747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Ingress Perimeter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676656" y="17099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Kong API Gateway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676656" y="19751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API keys/JWT, CORS, rate limit, proxy routing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53128" y="1609344"/>
            <a:ext cx="3310128" cy="960120"/>
          </a:xfrm>
          <a:prstGeom prst="roundRect">
            <a:avLst>
              <a:gd name="adj" fmla="val 5714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53128" y="1207008"/>
            <a:ext cx="3310128" cy="347472"/>
          </a:xfrm>
          <a:prstGeom prst="roundRect">
            <a:avLst/>
          </a:prstGeom>
          <a:solidFill>
            <a:srgbClr val="6D28D9"/>
          </a:solidFill>
          <a:ln w="12700">
            <a:solidFill>
              <a:srgbClr val="6D28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 Engine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4562856" y="17099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n8n / Python Worker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562856" y="19751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 receive, API polling, normalization, priority classification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339328" y="1609344"/>
            <a:ext cx="3310128" cy="960120"/>
          </a:xfrm>
          <a:prstGeom prst="roundRect">
            <a:avLst>
              <a:gd name="adj" fmla="val 5714"/>
            </a:avLst>
          </a:prstGeom>
          <a:solidFill>
            <a:srgbClr val="FEE2E2"/>
          </a:solidFill>
          <a:ln w="1143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39328" y="1207008"/>
            <a:ext cx="3310128" cy="347472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Path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449056" y="17099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Streams / Kafka</a:t>
            </a:r>
            <a:endParaRPr lang="en-US" sz="1310" dirty="0"/>
          </a:p>
        </p:txBody>
      </p:sp>
      <p:sp>
        <p:nvSpPr>
          <p:cNvPr id="15" name="Text 13"/>
          <p:cNvSpPr/>
          <p:nvPr/>
        </p:nvSpPr>
        <p:spPr>
          <a:xfrm>
            <a:off x="8449056" y="19751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event queue, consumer groups, urgent alert dispatch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66928" y="3236976"/>
            <a:ext cx="3310128" cy="960120"/>
          </a:xfrm>
          <a:prstGeom prst="roundRect">
            <a:avLst>
              <a:gd name="adj" fmla="val 5714"/>
            </a:avLst>
          </a:prstGeom>
          <a:solidFill>
            <a:srgbClr val="FEF9C3"/>
          </a:solidFill>
          <a:ln w="1143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2834640"/>
            <a:ext cx="3310128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Lakehouse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676656" y="33375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MinIO + DuckDB / Polars</a:t>
            </a:r>
            <a:endParaRPr lang="en-US" sz="1310" dirty="0"/>
          </a:p>
        </p:txBody>
      </p:sp>
      <p:sp>
        <p:nvSpPr>
          <p:cNvPr id="19" name="Text 17"/>
          <p:cNvSpPr/>
          <p:nvPr/>
        </p:nvSpPr>
        <p:spPr>
          <a:xfrm>
            <a:off x="676656" y="36027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 raw, Silver curated, Gold publish data zones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453128" y="3236976"/>
            <a:ext cx="3310128" cy="96012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143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53128" y="2834640"/>
            <a:ext cx="3310128" cy="34747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Layer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562856" y="33375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/ Go / PostgREST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4562856" y="36027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REST calls into optimized DB or lake queries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339328" y="3236976"/>
            <a:ext cx="3310128" cy="96012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39328" y="2834640"/>
            <a:ext cx="3310128" cy="34747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Assistant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8449056" y="33375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31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/ ElevenLabs / Telegram / WhatsApp</a:t>
            </a:r>
            <a:endParaRPr lang="en-US" sz="1310" dirty="0"/>
          </a:p>
        </p:txBody>
      </p:sp>
      <p:sp>
        <p:nvSpPr>
          <p:cNvPr id="27" name="Text 25"/>
          <p:cNvSpPr/>
          <p:nvPr/>
        </p:nvSpPr>
        <p:spPr>
          <a:xfrm>
            <a:off x="8462772" y="37810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querying, incident logging, root-cause Q&amp;A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66928" y="4864608"/>
            <a:ext cx="3310128" cy="960120"/>
          </a:xfrm>
          <a:prstGeom prst="roundRect">
            <a:avLst>
              <a:gd name="adj" fmla="val 5714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6928" y="4462272"/>
            <a:ext cx="3310128" cy="347472"/>
          </a:xfrm>
          <a:prstGeom prst="roundRect">
            <a:avLst/>
          </a:prstGeom>
          <a:solidFill>
            <a:srgbClr val="6D28D9"/>
          </a:solidFill>
          <a:ln w="12700">
            <a:solidFill>
              <a:srgbClr val="6D28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Cognitive + Predictive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676656" y="496519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Engine + AI Reasoner</a:t>
            </a:r>
            <a:endParaRPr lang="en-US" sz="1310" dirty="0"/>
          </a:p>
        </p:txBody>
      </p:sp>
      <p:sp>
        <p:nvSpPr>
          <p:cNvPr id="31" name="Text 29"/>
          <p:cNvSpPr/>
          <p:nvPr/>
        </p:nvSpPr>
        <p:spPr>
          <a:xfrm>
            <a:off x="676656" y="52303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detection, forecasting, RCA, prescriptions, early warnings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453128" y="4864608"/>
            <a:ext cx="3310128" cy="960120"/>
          </a:xfrm>
          <a:prstGeom prst="roundRect">
            <a:avLst>
              <a:gd name="adj" fmla="val 5714"/>
            </a:avLst>
          </a:prstGeom>
          <a:solidFill>
            <a:srgbClr val="CFFAFE"/>
          </a:solidFill>
          <a:ln w="1143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53128" y="4462272"/>
            <a:ext cx="3310128" cy="34747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4562856" y="496519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Prometheus + Grafana</a:t>
            </a:r>
            <a:endParaRPr lang="en-US" sz="1310" dirty="0"/>
          </a:p>
        </p:txBody>
      </p:sp>
      <p:sp>
        <p:nvSpPr>
          <p:cNvPr id="35" name="Text 33"/>
          <p:cNvSpPr/>
          <p:nvPr/>
        </p:nvSpPr>
        <p:spPr>
          <a:xfrm>
            <a:off x="4562856" y="52303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Host, container, API and predictive alert dashboards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339328" y="4864608"/>
            <a:ext cx="3310128" cy="960120"/>
          </a:xfrm>
          <a:prstGeom prst="roundRect">
            <a:avLst>
              <a:gd name="adj" fmla="val 5714"/>
            </a:avLst>
          </a:prstGeom>
          <a:solidFill>
            <a:srgbClr val="E2E8F0"/>
          </a:solidFill>
          <a:ln w="1143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39328" y="4462272"/>
            <a:ext cx="3310128" cy="347472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47556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Logging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8449056" y="496519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1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Filebeat + Logstash + Elasticsearch + Kibana</a:t>
            </a:r>
            <a:endParaRPr lang="en-US" sz="1310" dirty="0"/>
          </a:p>
        </p:txBody>
      </p:sp>
      <p:sp>
        <p:nvSpPr>
          <p:cNvPr id="39" name="Text 37"/>
          <p:cNvSpPr/>
          <p:nvPr/>
        </p:nvSpPr>
        <p:spPr>
          <a:xfrm>
            <a:off x="8462772" y="54315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log search, audit, RCA evidence, alert rules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Recommended components by responsibility, aligned to the CDE flow.</a:t>
            </a:r>
            <a:endParaRPr lang="en-US" sz="1270" dirty="0"/>
          </a:p>
        </p:txBody>
      </p:sp>
      <p:sp>
        <p:nvSpPr>
          <p:cNvPr id="4" name="Text 2"/>
          <p:cNvSpPr/>
          <p:nvPr/>
        </p:nvSpPr>
        <p:spPr>
          <a:xfrm>
            <a:off x="685800" y="1078992"/>
            <a:ext cx="1627632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/ Edge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14600" y="111099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Kong Gateway OSS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5897880" y="11109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key/JWT, rate limiting, proxy cache, route governance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627632" cy="292608"/>
          </a:xfrm>
          <a:prstGeom prst="roundRect">
            <a:avLst/>
          </a:prstGeom>
          <a:solidFill>
            <a:srgbClr val="6D28D9"/>
          </a:solidFill>
          <a:ln w="12700">
            <a:solidFill>
              <a:srgbClr val="6D28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/ Code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163220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n8n + Python / Go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5897880" y="163220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Low-code orchestration for quick flows; custom workers for scale and control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2121408"/>
            <a:ext cx="1627632" cy="292608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 Eventing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14600" y="215341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Streams / Kafka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5897880" y="21534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Brokered fast path for critical, predictive and prescription events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642616"/>
            <a:ext cx="1627632" cy="29260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14600" y="26746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MinIO / MongoDB / PostgreSQL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897880" y="26746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lake, raw documents, operational serving tables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3163824"/>
            <a:ext cx="1627632" cy="292608"/>
          </a:xfrm>
          <a:prstGeom prst="roundRect">
            <a:avLst/>
          </a:prstGeom>
          <a:solidFill>
            <a:srgbClr val="EAB308"/>
          </a:solidFill>
          <a:ln w="12700">
            <a:solidFill>
              <a:srgbClr val="EAB30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14600" y="319582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DuckDB / Polars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5897880" y="31958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JSON-to-Parquet, cleaning, aggregation, analytical SQL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3685032"/>
            <a:ext cx="1627632" cy="292608"/>
          </a:xfrm>
          <a:prstGeom prst="roundRect">
            <a:avLst/>
          </a:prstGeom>
          <a:solidFill>
            <a:srgbClr val="6D28D9"/>
          </a:solidFill>
          <a:ln w="12700">
            <a:solidFill>
              <a:srgbClr val="6D28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Predictive ML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14600" y="371703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models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5897880" y="371703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Isolation Forest, Autoencoder, Prophet, PatchTST, LightGBM for anomaly detection, forecasting and PdM/RUL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4206240"/>
            <a:ext cx="1627632" cy="29260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Cognitive Reasoning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14600" y="423824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Qdrant / PGVector + Knowledge Graph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5897880" y="423824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over SOPs, causal RCA, next-best-action recommendations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4727448"/>
            <a:ext cx="1627632" cy="29260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14600" y="475945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/ Go / PostgREST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5897880" y="47594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façade for operational DB, Gold Parquet and cognitive endpoints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5248656"/>
            <a:ext cx="1627632" cy="292608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47556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/ Logs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14600" y="52806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Prometheus + Grafana + ELK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5897880" y="52806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Metrics, dashboards, predictive alerts, audit and log analytics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CDE works: end-to-end lifecycle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The operating model splits fast operational action from reliable data persistence and curated publishing.</a:t>
            </a:r>
            <a:endParaRPr lang="en-US" sz="1270" dirty="0"/>
          </a:p>
        </p:txBody>
      </p:sp>
      <p:sp>
        <p:nvSpPr>
          <p:cNvPr id="4" name="Shape 2"/>
          <p:cNvSpPr/>
          <p:nvPr/>
        </p:nvSpPr>
        <p:spPr>
          <a:xfrm>
            <a:off x="1216152" y="2489411"/>
            <a:ext cx="402336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2240280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" y="29535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46888" y="3282696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webhook or pull API data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026664" y="2489411"/>
            <a:ext cx="402336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93976" y="2240280"/>
            <a:ext cx="438912" cy="438912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20824" y="29535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929384" y="3282696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Normalize, validate, evaluate severity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697256" y="2489411"/>
            <a:ext cx="402336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76472" y="2240280"/>
            <a:ext cx="438912" cy="438912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29535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11880" y="3282696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ALARM/CRITICAL to urgent broker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368192" y="2489411"/>
            <a:ext cx="402336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58968" y="2240280"/>
            <a:ext cx="438912" cy="43891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85816" y="29535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94376" y="3282696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100% raw payloads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074152" y="2494414"/>
            <a:ext cx="402336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41464" y="2240280"/>
            <a:ext cx="438912" cy="438912"/>
          </a:xfrm>
          <a:prstGeom prst="ellipse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68312" y="29535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76872" y="3282696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→ Curated → Publish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823416" y="2429026"/>
            <a:ext cx="402336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23960" y="2240280"/>
            <a:ext cx="438912" cy="43891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50808" y="29535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59368" y="3282696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secure APIs and AI query tools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0506456" y="2240280"/>
            <a:ext cx="438912" cy="43891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433304" y="29535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0341864" y="3282696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dashboards and centralized log analytics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777240" y="5120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design principle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520440" y="51206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 notification should not wait for storage or batch ETL. Storage and analytics are durable paths; alerts are an immediate operational path.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Overall CDE Master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Full solution overview across inbound sources, ingestion, urgent processing, lakehouse serving, and consumption.</a:t>
            </a:r>
            <a:endParaRPr lang="en-US" sz="1270" dirty="0"/>
          </a:p>
        </p:txBody>
      </p:sp>
      <p:pic>
        <p:nvPicPr>
          <p:cNvPr id="4" name="Image 0" descr="/mnt/data/common_data_environment_master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271" y="1225296"/>
            <a:ext cx="8903555" cy="5010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Receive-based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For sources that push data through API calls or webhooks into the CDE.</a:t>
            </a:r>
            <a:endParaRPr lang="en-US" sz="1270" dirty="0"/>
          </a:p>
        </p:txBody>
      </p:sp>
      <p:pic>
        <p:nvPicPr>
          <p:cNvPr id="4" name="Image 0" descr="/mnt/data/wide_infographic_diagram_on_a_white_background_w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225296"/>
            <a:ext cx="10021824" cy="5010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Pull-based Ingestion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For third-party APIs that require scheduled polling, pagination, watermarking, and retry handling.</a:t>
            </a:r>
            <a:endParaRPr lang="en-US" sz="1270" dirty="0"/>
          </a:p>
        </p:txBody>
      </p:sp>
      <p:pic>
        <p:nvPicPr>
          <p:cNvPr id="4" name="Image 0" descr="/mnt/data/a_wide_infographic_diagram_on_a_white_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225296"/>
            <a:ext cx="10021824" cy="5010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Raw-to-Gold Lakehouse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MinIO stores the lake zones; DuckDB/Polars perform the compute and transformations.</a:t>
            </a:r>
            <a:endParaRPr lang="en-US" sz="1270" dirty="0"/>
          </a:p>
        </p:txBody>
      </p:sp>
      <p:sp>
        <p:nvSpPr>
          <p:cNvPr id="4" name="Shape 2"/>
          <p:cNvSpPr/>
          <p:nvPr/>
        </p:nvSpPr>
        <p:spPr>
          <a:xfrm>
            <a:off x="2560320" y="2834640"/>
            <a:ext cx="164592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52160" y="2834640"/>
            <a:ext cx="1645920" cy="0"/>
          </a:xfrm>
          <a:prstGeom prst="line">
            <a:avLst/>
          </a:prstGeom>
          <a:noFill/>
          <a:ln w="2286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0" y="2834640"/>
            <a:ext cx="1051560" cy="0"/>
          </a:xfrm>
          <a:prstGeom prst="line">
            <a:avLst/>
          </a:prstGeom>
          <a:noFill/>
          <a:ln w="22860">
            <a:solidFill>
              <a:srgbClr val="EAB30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1828800" cy="155448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59E0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 / Raw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lake-raw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payload copy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Compressed JSON / JSONL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and re-processing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06240" y="2331720"/>
            <a:ext cx="160020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ETL Step 1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DuckDB / Polars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543800" y="2057400"/>
            <a:ext cx="1600200" cy="155448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 / Curated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lake-curated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0" y="3886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Parquet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Deduplicated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enforced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195560" y="2057400"/>
            <a:ext cx="1508760" cy="155448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EAB30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/ Publish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lake-publish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12680" y="3886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Rollups + KPIs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Parquet and DB mirror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APIs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532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serving mirror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5532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High-frequency Gold summaries can be copied to PostgreSQL or Redis for low-latency VA and dashboard lookups.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Complete Serving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A Serving API sits between Kong and published storage to translate REST calls into optimized Gold-zone queries.</a:t>
            </a:r>
            <a:endParaRPr lang="en-US" sz="1270" dirty="0"/>
          </a:p>
        </p:txBody>
      </p:sp>
      <p:pic>
        <p:nvPicPr>
          <p:cNvPr id="4" name="Image 0" descr="/mnt/data/a_clean_infographic_diagram_on_a_white_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225296"/>
            <a:ext cx="10021824" cy="5010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Omnichannel AI Assistant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Natural-language and voice channels query operational REST, analytical SQL, and log diagnostics through Kong.</a:t>
            </a:r>
            <a:endParaRPr lang="en-US" sz="1270" dirty="0"/>
          </a:p>
        </p:txBody>
      </p:sp>
      <p:pic>
        <p:nvPicPr>
          <p:cNvPr id="4" name="Image 0" descr="/mnt/data/omnichannel_ai_assistant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271" y="1225296"/>
            <a:ext cx="8903555" cy="5010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 &amp; API Monitoring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Prometheus scrapes host, container, and Kong metrics; Grafana presents dashboards for operations.</a:t>
            </a:r>
            <a:endParaRPr lang="en-US" sz="1270" dirty="0"/>
          </a:p>
        </p:txBody>
      </p:sp>
      <p:pic>
        <p:nvPicPr>
          <p:cNvPr id="4" name="Image 0" descr="/mnt/data/infrastructure_and_api_monitoring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271" y="1225296"/>
            <a:ext cx="8903555" cy="5010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Centralized Logging &amp; Log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Filebeat and Logstash route infrastructure, container, application, database, and gateway logs into Elasticsearch and Kibana.</a:t>
            </a:r>
            <a:endParaRPr lang="en-US" sz="1270" dirty="0"/>
          </a:p>
        </p:txBody>
      </p:sp>
      <p:pic>
        <p:nvPicPr>
          <p:cNvPr id="4" name="Image 0" descr="/mnt/data/wide_infographic_diagram_with_a_clean_tech_it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225296"/>
            <a:ext cx="10021824" cy="5010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Cognitive AI &amp; Predictive Intelligence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Moves the CDE from reactive monitoring to proactive early warning, root-cause analysis, and prescribed mitigation.</a:t>
            </a:r>
            <a:endParaRPr lang="en-US" sz="1270" dirty="0"/>
          </a:p>
        </p:txBody>
      </p:sp>
      <p:pic>
        <p:nvPicPr>
          <p:cNvPr id="4" name="Image 0" descr="/mnt/data/cognitive_ai_predictive_intelligenc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271" y="1225296"/>
            <a:ext cx="8903555" cy="5010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Cognitive AI &amp; Predictive Analytics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Predict failures before they happen, diagnose complex root causes, and prescribe concrete mitigation actions.</a:t>
            </a:r>
            <a:endParaRPr lang="en-US" sz="127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2240280" cy="384048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anomaly detection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5528" y="189280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Isolation Forest, dynamic Z-score, autoencoder residuals detect subtle multi-variate drift before hard thresholds.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0" y="1325880"/>
            <a:ext cx="224028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forecasting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27648" y="189280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Prophet, PatchTST and LightGBM forecast flow, crowd density, ingestion throughput and capacity pressure.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FEF9C3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2240280" cy="38404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maintenance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" y="321868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 and equipment health curves estimate degradation, wear rate and service windows before failure.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108960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2240280" cy="38404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Cognitive RCA + NBA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27648" y="321868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graph, fault tree and vector SOP search explain root cause and recommend next-best-action.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integration &amp; data sinks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4800600"/>
            <a:ext cx="2148840" cy="292608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stream:early_warnings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48280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Engine → Redis Streams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6355080" y="482803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Pre-alarm warning to control room and AI Assistant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31520" y="5148072"/>
            <a:ext cx="2148840" cy="292608"/>
          </a:xfrm>
          <a:prstGeom prst="roundRect">
            <a:avLst/>
          </a:prstGeom>
          <a:solidFill>
            <a:srgbClr val="6D28D9"/>
          </a:solidFill>
          <a:ln w="12700">
            <a:solidFill>
              <a:srgbClr val="6D28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stream:prescriptions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63240" y="51755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Cognitive Engine → Redis Streams + n8n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355080" y="51755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mitigation workflow, SOP dispatch, work order draft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731520" y="5495544"/>
            <a:ext cx="2148840" cy="292608"/>
          </a:xfrm>
          <a:prstGeom prst="roundRect">
            <a:avLst/>
          </a:prstGeom>
          <a:solidFill>
            <a:srgbClr val="EAB308"/>
          </a:solidFill>
          <a:ln w="12700">
            <a:solidFill>
              <a:srgbClr val="EAB30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Forecast Lake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63240" y="552297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Engine → MinIO lake-publish + PostgreSQL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6355080" y="552297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trend graphs and capacity planning views in Grafana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31520" y="5843016"/>
            <a:ext cx="214884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RCA Explanations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63240" y="58704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Cognitive Engine → Kong /api/v1/cognitive/root-cause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6355080" y="587044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On-demand explanations for Assistant and operators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CDE functions by audience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Users can query data, log incidents, receive predictive alerts, retrieve RCA explanations, and trigger guided actions through the AI Assistant.</a:t>
            </a:r>
            <a:endParaRPr lang="en-US" sz="127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4617720" cy="1143000"/>
          </a:xfrm>
          <a:prstGeom prst="roundRect">
            <a:avLst>
              <a:gd name="adj" fmla="val 64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2057400" cy="438912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Live/predictive alerts, incident tracking, RCA explanations, corrective action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4617720" cy="1143000"/>
          </a:xfrm>
          <a:prstGeom prst="roundRect">
            <a:avLst>
              <a:gd name="adj" fmla="val 6400"/>
            </a:avLst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2057400" cy="43891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users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AI Assistant for data, reports, incident status and operational summaries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917255"/>
            <a:ext cx="4617720" cy="114300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368615"/>
            <a:ext cx="2057400" cy="43891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/ support users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145855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incidents, receive prescriptions, trigger SOP workflow or work-order draft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3917255"/>
            <a:ext cx="4617720" cy="1143000"/>
          </a:xfrm>
          <a:prstGeom prst="roundRect">
            <a:avLst>
              <a:gd name="adj" fmla="val 6400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3368615"/>
            <a:ext cx="2057400" cy="438912"/>
          </a:xfrm>
          <a:prstGeom prst="roundRect">
            <a:avLst/>
          </a:prstGeom>
          <a:solidFill>
            <a:srgbClr val="6D28D9"/>
          </a:solidFill>
          <a:ln w="12700">
            <a:solidFill>
              <a:srgbClr val="6D28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/ audit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4145855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logs, trace requests, review access failures and compliance evidence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17</a:t>
            </a:r>
            <a:endParaRPr lang="en-US" sz="85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4736044F-637C-3F0C-6FCE-FFAB42EF60B9}"/>
              </a:ext>
            </a:extLst>
          </p:cNvPr>
          <p:cNvSpPr/>
          <p:nvPr/>
        </p:nvSpPr>
        <p:spPr>
          <a:xfrm>
            <a:off x="4038600" y="5718623"/>
            <a:ext cx="4617720" cy="993073"/>
          </a:xfrm>
          <a:prstGeom prst="roundRect">
            <a:avLst>
              <a:gd name="adj" fmla="val 64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3548B3A6-5380-DCE8-BEBD-11B965AB4086}"/>
              </a:ext>
            </a:extLst>
          </p:cNvPr>
          <p:cNvSpPr/>
          <p:nvPr/>
        </p:nvSpPr>
        <p:spPr>
          <a:xfrm>
            <a:off x="4038600" y="5169983"/>
            <a:ext cx="2057400" cy="43891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F766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600" b="1">
                <a:solidFill>
                  <a:srgbClr val="FFFFFF"/>
                </a:solidFill>
              </a:defRPr>
            </a:pPr>
            <a:r>
              <a:rPr dirty="0"/>
              <a:t>Users / AI Assistant</a:t>
            </a:r>
            <a:endParaRPr lang="en-US" sz="14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5594D4F9-0522-DF04-208C-FB72CD3758F0}"/>
              </a:ext>
            </a:extLst>
          </p:cNvPr>
          <p:cNvSpPr/>
          <p:nvPr/>
        </p:nvSpPr>
        <p:spPr>
          <a:xfrm>
            <a:off x="4175760" y="5846639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spcAft>
                <a:spcPts val="300"/>
              </a:spcAft>
              <a:buNone/>
              <a:defRPr sz="1400">
                <a:solidFill>
                  <a:srgbClr val="0F2D55"/>
                </a:solidFill>
              </a:defRPr>
            </a:pPr>
            <a:r>
              <a:rPr dirty="0"/>
              <a:t>Ask AI Assistant to query CDE data</a:t>
            </a:r>
            <a:endParaRPr lang="en-US" sz="1500" dirty="0"/>
          </a:p>
          <a:p>
            <a:pPr>
              <a:spcAft>
                <a:spcPts val="300"/>
              </a:spcAft>
              <a:defRPr sz="1400">
                <a:solidFill>
                  <a:srgbClr val="0F2D55"/>
                </a:solidFill>
              </a:defRPr>
            </a:pPr>
            <a:r>
              <a:rPr dirty="0"/>
              <a:t>Log / report incidents from chat or voice</a:t>
            </a:r>
          </a:p>
          <a:p>
            <a:pPr>
              <a:spcAft>
                <a:spcPts val="300"/>
              </a:spcAft>
              <a:defRPr sz="1400">
                <a:solidFill>
                  <a:srgbClr val="0F2D55"/>
                </a:solidFill>
              </a:defRPr>
            </a:pPr>
            <a:r>
              <a:rPr dirty="0"/>
              <a:t>Check incident status, metrics, and history</a:t>
            </a:r>
          </a:p>
          <a:p>
            <a:pPr>
              <a:spcAft>
                <a:spcPts val="300"/>
              </a:spcAft>
              <a:defRPr sz="1400">
                <a:solidFill>
                  <a:srgbClr val="0F2D55"/>
                </a:solidFill>
              </a:defRPr>
            </a:pPr>
            <a:r>
              <a:rPr dirty="0"/>
              <a:t>Generate summaries, tables, and reports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implementation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Build a thin working slice first, then scale data sources, service endpoints, AI channels, and operations coverage.</a:t>
            </a:r>
            <a:endParaRPr lang="en-US" sz="1270" dirty="0"/>
          </a:p>
        </p:txBody>
      </p:sp>
      <p:sp>
        <p:nvSpPr>
          <p:cNvPr id="4" name="Shape 2"/>
          <p:cNvSpPr/>
          <p:nvPr/>
        </p:nvSpPr>
        <p:spPr>
          <a:xfrm>
            <a:off x="1820174" y="2518914"/>
            <a:ext cx="612648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594360" cy="5943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3776" y="2971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84048" y="340156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Kong, Redis, MinIO, worker runtime, base network/security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64508" y="2518914"/>
            <a:ext cx="612648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0" y="2148840"/>
            <a:ext cx="594360" cy="59436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61488" y="2971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 MVP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651760" y="340156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push source + one pull API, raw bucket, urgent rule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32220" y="2527540"/>
            <a:ext cx="612648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2148840"/>
            <a:ext cx="594360" cy="59436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971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product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919472" y="340156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 → Silver → Gold jobs, operational DB mirror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14816" y="2553420"/>
            <a:ext cx="612648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61504" y="2148840"/>
            <a:ext cx="594360" cy="59436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96912" y="2971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Consumption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187184" y="340156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API, dashboard, VA or Telegram query path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729216" y="2148840"/>
            <a:ext cx="594360" cy="59436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64624" y="2971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hardening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454896" y="340156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Grafana, ELK, alert rules, runbooks, access review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5349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close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834640" y="5349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CDE is not only a storage layer — it is an operational data platform that ingests, acts, governs, serves, and observes.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1416</Words>
  <Application>Microsoft Office PowerPoint</Application>
  <PresentationFormat>Widescreen</PresentationFormat>
  <Paragraphs>252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CDE Solution Architecture Presentation</dc:title>
  <dc:subject>Common Data Environment Solution Architecture</dc:subject>
  <dc:creator>OpenAI</dc:creator>
  <cp:lastModifiedBy>Eric See Kian Seng</cp:lastModifiedBy>
  <cp:revision>11</cp:revision>
  <dcterms:created xsi:type="dcterms:W3CDTF">2026-09-24T09:29:29Z</dcterms:created>
  <dcterms:modified xsi:type="dcterms:W3CDTF">2026-09-24T09:39:38Z</dcterms:modified>
</cp:coreProperties>
</file>